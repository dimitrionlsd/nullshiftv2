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1256982"/>
            <a:ext cx="3089910" cy="456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8B8B8B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8B8B8B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8B8B8B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8B8B8B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8B8B8B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752157"/>
            <a:ext cx="4087495" cy="456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2328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7462" y="1985645"/>
            <a:ext cx="7955280" cy="149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F2328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3050" y="6393587"/>
            <a:ext cx="567182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8B8B8B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47089" y="6322391"/>
            <a:ext cx="31051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593214"/>
            <a:ext cx="4375785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>
                <a:solidFill>
                  <a:srgbClr val="214466"/>
                </a:solidFill>
              </a:rPr>
              <a:t>Projeto</a:t>
            </a:r>
            <a:r>
              <a:rPr dirty="0" sz="3450" spc="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1 |</a:t>
            </a:r>
            <a:r>
              <a:rPr dirty="0" sz="3450" spc="5">
                <a:solidFill>
                  <a:srgbClr val="214466"/>
                </a:solidFill>
              </a:rPr>
              <a:t> </a:t>
            </a:r>
            <a:r>
              <a:rPr dirty="0" sz="3450">
                <a:solidFill>
                  <a:srgbClr val="214466"/>
                </a:solidFill>
              </a:rPr>
              <a:t>Proposta </a:t>
            </a:r>
            <a:r>
              <a:rPr dirty="0" sz="3450" spc="-50">
                <a:solidFill>
                  <a:srgbClr val="214466"/>
                </a:solidFill>
              </a:rPr>
              <a:t>D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735012" y="2493327"/>
            <a:ext cx="6871970" cy="27374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Modulação</a:t>
            </a:r>
            <a:r>
              <a:rPr dirty="0" sz="2400" spc="-10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ASK/OOK</a:t>
            </a:r>
            <a:r>
              <a:rPr dirty="0" sz="2400" spc="-10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Multiplexada</a:t>
            </a:r>
            <a:r>
              <a:rPr dirty="0" sz="2400" spc="-10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>
                <a:solidFill>
                  <a:srgbClr val="1F2328"/>
                </a:solidFill>
                <a:latin typeface="Segoe UI Semibold"/>
                <a:cs typeface="Segoe UI Semibold"/>
              </a:rPr>
              <a:t>na</a:t>
            </a:r>
            <a:r>
              <a:rPr dirty="0" sz="2400" spc="-10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400" spc="-10">
                <a:solidFill>
                  <a:srgbClr val="1F2328"/>
                </a:solidFill>
                <a:latin typeface="Segoe UI Semibold"/>
                <a:cs typeface="Segoe UI Semibold"/>
              </a:rPr>
              <a:t>Frequência</a:t>
            </a:r>
            <a:endParaRPr sz="24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Autores:</a:t>
            </a:r>
            <a:endParaRPr sz="21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Paulo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Sousa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| Pedro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Ferreira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Unidade</a:t>
            </a:r>
            <a:r>
              <a:rPr dirty="0" sz="2150" spc="8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Curricular:</a:t>
            </a:r>
            <a:endParaRPr sz="21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Eletrónica</a:t>
            </a:r>
            <a:r>
              <a:rPr dirty="0" sz="2150" spc="9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Configurável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Mestrado</a:t>
            </a:r>
            <a:r>
              <a:rPr dirty="0" sz="2150" spc="8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em</a:t>
            </a:r>
            <a:r>
              <a:rPr dirty="0" sz="2150" spc="9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Engenharia</a:t>
            </a:r>
            <a:r>
              <a:rPr dirty="0" sz="2150" spc="9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Eletrotécnica</a:t>
            </a:r>
            <a:r>
              <a:rPr dirty="0" sz="2150" spc="9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2025/2026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Objetivos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1628774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462" y="1328419"/>
            <a:ext cx="5772785" cy="244475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Moduladores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ASK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OOK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em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PL.</a:t>
            </a:r>
            <a:endParaRPr sz="2150">
              <a:latin typeface="Segoe UI"/>
              <a:cs typeface="Segoe UI"/>
            </a:endParaRPr>
          </a:p>
          <a:p>
            <a:pPr marL="12700" marR="644525">
              <a:lnSpc>
                <a:spcPct val="145300"/>
              </a:lnSpc>
              <a:spcBef>
                <a:spcPts val="7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Multiplexagem</a:t>
            </a:r>
            <a:r>
              <a:rPr dirty="0" sz="2150" spc="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por</a:t>
            </a:r>
            <a:r>
              <a:rPr dirty="0" sz="2150" spc="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Divisão</a:t>
            </a:r>
            <a:r>
              <a:rPr dirty="0" sz="2150" spc="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na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Frequência.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Controlo</a:t>
            </a:r>
            <a:r>
              <a:rPr dirty="0" sz="2150" spc="6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5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ganhos.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Emulação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6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canal</a:t>
            </a:r>
            <a:r>
              <a:rPr dirty="0" sz="2150" spc="6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físico.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Seleção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sinais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para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visualização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no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DAC/ILA.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114549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590799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076574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562349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482" y="4041219"/>
            <a:ext cx="5521840" cy="22590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6095999" cy="643488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2209482"/>
            <a:ext cx="403288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Arquitetura</a:t>
            </a:r>
            <a:r>
              <a:rPr dirty="0" spc="-5"/>
              <a:t> </a:t>
            </a:r>
            <a:r>
              <a:rPr dirty="0"/>
              <a:t>do Sistema</a:t>
            </a:r>
            <a:r>
              <a:rPr dirty="0" spc="-5"/>
              <a:t> </a:t>
            </a:r>
            <a:r>
              <a:rPr dirty="0" spc="-5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2903" y="2871470"/>
            <a:ext cx="4260215" cy="173990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740"/>
              </a:spcBef>
              <a:buFont typeface="Segoe UI"/>
              <a:buAutoNum type="arabicPeriod"/>
              <a:tabLst>
                <a:tab pos="296545" algn="l"/>
              </a:tabLst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Geração</a:t>
            </a:r>
            <a:r>
              <a:rPr dirty="0" sz="2150" spc="5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e</a:t>
            </a:r>
            <a:r>
              <a:rPr dirty="0" sz="2150" spc="5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 Semibold"/>
                <a:cs typeface="Segoe UI Semibold"/>
              </a:rPr>
              <a:t>Mapeamento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endParaRPr sz="2150">
              <a:latin typeface="Segoe UI"/>
              <a:cs typeface="Segoe UI"/>
            </a:endParaRPr>
          </a:p>
          <a:p>
            <a:pPr marL="297180" marR="5080">
              <a:lnSpc>
                <a:spcPts val="3300"/>
              </a:lnSpc>
              <a:spcBef>
                <a:spcPts val="15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BRAMs,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com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OOK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(2-ASK)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ASK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(4-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ASK).</a:t>
            </a:r>
            <a:endParaRPr sz="2150">
              <a:latin typeface="Segoe UI"/>
              <a:cs typeface="Segoe UI"/>
            </a:endParaRPr>
          </a:p>
          <a:p>
            <a:pPr marL="296545" indent="-283845">
              <a:lnSpc>
                <a:spcPct val="100000"/>
              </a:lnSpc>
              <a:spcBef>
                <a:spcPts val="940"/>
              </a:spcBef>
              <a:buFont typeface="Segoe UI"/>
              <a:buAutoNum type="arabicPeriod" startAt="2"/>
              <a:tabLst>
                <a:tab pos="296545" algn="l"/>
              </a:tabLst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Portadoras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Geradores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DDS.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0"/>
            <a:ext cx="6095999" cy="640140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5012" y="2209482"/>
            <a:ext cx="408749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Arquitetura</a:t>
            </a:r>
            <a:r>
              <a:rPr dirty="0" spc="-5"/>
              <a:t> </a:t>
            </a:r>
            <a:r>
              <a:rPr dirty="0"/>
              <a:t>do Sistema</a:t>
            </a:r>
            <a:r>
              <a:rPr dirty="0" spc="-5"/>
              <a:t> </a:t>
            </a:r>
            <a:r>
              <a:rPr dirty="0" spc="-50"/>
              <a:t>2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2903" y="2871470"/>
            <a:ext cx="4107815" cy="173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5910" marR="347345" indent="-283845">
              <a:lnSpc>
                <a:spcPct val="125000"/>
              </a:lnSpc>
              <a:spcBef>
                <a:spcPts val="95"/>
              </a:spcBef>
              <a:buFont typeface="Segoe UI"/>
              <a:buAutoNum type="arabicPeriod" startAt="3"/>
              <a:tabLst>
                <a:tab pos="297180" algn="l"/>
              </a:tabLst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Modulação</a:t>
            </a:r>
            <a:r>
              <a:rPr dirty="0" sz="2150" spc="6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e</a:t>
            </a:r>
            <a:r>
              <a:rPr dirty="0" sz="2150" spc="6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Ganho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7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Blocos 	multiplicadores.</a:t>
            </a:r>
            <a:endParaRPr sz="2150">
              <a:latin typeface="Segoe UI"/>
              <a:cs typeface="Segoe UI"/>
            </a:endParaRPr>
          </a:p>
          <a:p>
            <a:pPr marL="295910" marR="5080" indent="-283845">
              <a:lnSpc>
                <a:spcPct val="125000"/>
              </a:lnSpc>
              <a:spcBef>
                <a:spcPts val="600"/>
              </a:spcBef>
              <a:buFont typeface="Segoe UI"/>
              <a:buAutoNum type="arabicPeriod" startAt="3"/>
              <a:tabLst>
                <a:tab pos="297180" algn="l"/>
              </a:tabLst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Multiplexagem</a:t>
            </a:r>
            <a:r>
              <a:rPr dirty="0" sz="2150" spc="105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FDM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10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Somador 	digital.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Arquitetura</a:t>
            </a:r>
            <a:r>
              <a:rPr dirty="0" spc="-5"/>
              <a:t> </a:t>
            </a:r>
            <a:r>
              <a:rPr dirty="0"/>
              <a:t>do Sistema</a:t>
            </a:r>
            <a:r>
              <a:rPr dirty="0" spc="-5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2903" y="1328419"/>
            <a:ext cx="5710555" cy="99695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340"/>
              </a:spcBef>
              <a:buFont typeface="Segoe UI"/>
              <a:buAutoNum type="arabicPeriod" startAt="5"/>
              <a:tabLst>
                <a:tab pos="296545" algn="l"/>
              </a:tabLst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Emulação</a:t>
            </a:r>
            <a:r>
              <a:rPr dirty="0" sz="2150" spc="5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de</a:t>
            </a:r>
            <a:r>
              <a:rPr dirty="0" sz="2150" spc="5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Canal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Filtro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FIR.</a:t>
            </a:r>
            <a:endParaRPr sz="2150">
              <a:latin typeface="Segoe UI"/>
              <a:cs typeface="Segoe UI"/>
            </a:endParaRPr>
          </a:p>
          <a:p>
            <a:pPr marL="296545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 startAt="5"/>
              <a:tabLst>
                <a:tab pos="296545" algn="l"/>
              </a:tabLst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Visualização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8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MUX</a:t>
            </a:r>
            <a:r>
              <a:rPr dirty="0" sz="2150" spc="9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combinacional</a:t>
            </a:r>
            <a:r>
              <a:rPr dirty="0" sz="2150" spc="9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em</a:t>
            </a:r>
            <a:r>
              <a:rPr dirty="0" sz="2150" spc="9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VHDL.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124" y="2557208"/>
            <a:ext cx="7063216" cy="38294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2380932"/>
            <a:ext cx="389255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Geração</a:t>
            </a:r>
            <a:r>
              <a:rPr dirty="0" spc="20"/>
              <a:t> </a:t>
            </a:r>
            <a:r>
              <a:rPr dirty="0"/>
              <a:t>das</a:t>
            </a:r>
            <a:r>
              <a:rPr dirty="0" spc="20"/>
              <a:t> </a:t>
            </a:r>
            <a:r>
              <a:rPr dirty="0" spc="-10"/>
              <a:t>Portadoras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267074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462" y="2976245"/>
            <a:ext cx="6398260" cy="1463675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Geração</a:t>
            </a:r>
            <a:r>
              <a:rPr dirty="0" sz="2150" spc="7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precisa</a:t>
            </a:r>
            <a:r>
              <a:rPr dirty="0" sz="2150" spc="7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7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sinusóides</a:t>
            </a:r>
            <a:r>
              <a:rPr dirty="0" sz="2150" spc="7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digitais.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ts val="3829"/>
              </a:lnSpc>
              <a:spcBef>
                <a:spcPts val="5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Frequência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da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Portador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no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ASK</a:t>
            </a:r>
            <a:r>
              <a:rPr dirty="0" sz="2150" spc="4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Modulator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5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MHz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Frequência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da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Portadora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no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OOK</a:t>
            </a:r>
            <a:r>
              <a:rPr dirty="0" sz="2150" spc="3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Modulator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2</a:t>
            </a:r>
            <a:r>
              <a:rPr dirty="0" sz="2150" spc="3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1F2328"/>
                </a:solidFill>
                <a:latin typeface="Segoe UI"/>
                <a:cs typeface="Segoe UI"/>
              </a:rPr>
              <a:t>MHz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743324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229099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990282"/>
            <a:ext cx="5555615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Geração</a:t>
            </a:r>
            <a:r>
              <a:rPr dirty="0" spc="10"/>
              <a:t> </a:t>
            </a:r>
            <a:r>
              <a:rPr dirty="0"/>
              <a:t>de</a:t>
            </a:r>
            <a:r>
              <a:rPr dirty="0" spc="15"/>
              <a:t> </a:t>
            </a:r>
            <a:r>
              <a:rPr dirty="0"/>
              <a:t>Dados</a:t>
            </a:r>
            <a:r>
              <a:rPr dirty="0" spc="10"/>
              <a:t> </a:t>
            </a:r>
            <a:r>
              <a:rPr dirty="0"/>
              <a:t>e</a:t>
            </a:r>
            <a:r>
              <a:rPr dirty="0" spc="15"/>
              <a:t> </a:t>
            </a:r>
            <a:r>
              <a:rPr dirty="0" spc="-10"/>
              <a:t>Mapeamento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1866899"/>
            <a:ext cx="95250" cy="952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447924" y="1752599"/>
            <a:ext cx="704850" cy="361950"/>
          </a:xfrm>
          <a:custGeom>
            <a:avLst/>
            <a:gdLst/>
            <a:ahLst/>
            <a:cxnLst/>
            <a:rect l="l" t="t" r="r" b="b"/>
            <a:pathLst>
              <a:path w="704850" h="361950">
                <a:moveTo>
                  <a:pt x="651452" y="361949"/>
                </a:moveTo>
                <a:lnTo>
                  <a:pt x="53397" y="361949"/>
                </a:lnTo>
                <a:lnTo>
                  <a:pt x="49680" y="361583"/>
                </a:lnTo>
                <a:lnTo>
                  <a:pt x="14085" y="342557"/>
                </a:lnTo>
                <a:lnTo>
                  <a:pt x="0" y="308552"/>
                </a:lnTo>
                <a:lnTo>
                  <a:pt x="0" y="30479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651452" y="0"/>
                </a:lnTo>
                <a:lnTo>
                  <a:pt x="690764" y="19392"/>
                </a:lnTo>
                <a:lnTo>
                  <a:pt x="704849" y="53397"/>
                </a:lnTo>
                <a:lnTo>
                  <a:pt x="704849" y="308552"/>
                </a:lnTo>
                <a:lnTo>
                  <a:pt x="685457" y="347864"/>
                </a:lnTo>
                <a:lnTo>
                  <a:pt x="655168" y="361583"/>
                </a:lnTo>
                <a:lnTo>
                  <a:pt x="651452" y="3619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29284" y="1771064"/>
            <a:ext cx="54229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0">
                <a:solidFill>
                  <a:srgbClr val="1F2328"/>
                </a:solidFill>
                <a:latin typeface="Consolas"/>
                <a:cs typeface="Consolas"/>
              </a:rPr>
              <a:t>.coe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7462" y="1720850"/>
            <a:ext cx="6619875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39925" algn="l"/>
              </a:tabLst>
            </a:pP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Ficheiros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	simulam</a:t>
            </a:r>
            <a:r>
              <a:rPr dirty="0" sz="2150" spc="1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geradores</a:t>
            </a:r>
            <a:r>
              <a:rPr dirty="0" sz="2150" spc="13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pseudo-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aleatórios.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362199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071370"/>
            <a:ext cx="7998459" cy="97790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ASK</a:t>
            </a:r>
            <a:r>
              <a:rPr dirty="0" sz="2150" spc="5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Mapper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Converte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bits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em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4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níveis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amplitude.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Line</a:t>
            </a:r>
            <a:r>
              <a:rPr dirty="0" sz="2150" spc="4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 Semibold"/>
                <a:cs typeface="Segoe UI Semibold"/>
              </a:rPr>
              <a:t>Coder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Converte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stream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binária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OOK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para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formatos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1F2328"/>
                </a:solidFill>
                <a:latin typeface="Segoe UI"/>
                <a:cs typeface="Segoe UI"/>
              </a:rPr>
              <a:t>exigidos.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838449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0100" y="3238499"/>
            <a:ext cx="9518398" cy="23717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Multiplexagem</a:t>
            </a:r>
            <a:r>
              <a:rPr dirty="0" spc="65"/>
              <a:t> </a:t>
            </a:r>
            <a:r>
              <a:rPr dirty="0" spc="-25"/>
              <a:t>FDM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1628774"/>
            <a:ext cx="95250" cy="952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62224" y="1504949"/>
            <a:ext cx="828675" cy="371475"/>
          </a:xfrm>
          <a:custGeom>
            <a:avLst/>
            <a:gdLst/>
            <a:ahLst/>
            <a:cxnLst/>
            <a:rect l="l" t="t" r="r" b="b"/>
            <a:pathLst>
              <a:path w="828675" h="371475">
                <a:moveTo>
                  <a:pt x="775277" y="371474"/>
                </a:moveTo>
                <a:lnTo>
                  <a:pt x="53397" y="371474"/>
                </a:lnTo>
                <a:lnTo>
                  <a:pt x="49680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775277" y="0"/>
                </a:lnTo>
                <a:lnTo>
                  <a:pt x="814589" y="19392"/>
                </a:lnTo>
                <a:lnTo>
                  <a:pt x="828674" y="53397"/>
                </a:lnTo>
                <a:lnTo>
                  <a:pt x="828674" y="318077"/>
                </a:lnTo>
                <a:lnTo>
                  <a:pt x="809282" y="357389"/>
                </a:lnTo>
                <a:lnTo>
                  <a:pt x="778993" y="371108"/>
                </a:lnTo>
                <a:lnTo>
                  <a:pt x="775277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87462" y="1328419"/>
            <a:ext cx="8829675" cy="141605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Operação</a:t>
            </a:r>
            <a:r>
              <a:rPr dirty="0" sz="2150" spc="95">
                <a:solidFill>
                  <a:srgbClr val="1F2328"/>
                </a:solidFill>
                <a:latin typeface="Segoe UI"/>
                <a:cs typeface="Segoe UI"/>
              </a:rPr>
              <a:t> 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dirty="0" sz="1850" spc="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dirty="0" sz="1850" spc="2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1850">
                <a:solidFill>
                  <a:srgbClr val="1F2328"/>
                </a:solidFill>
                <a:latin typeface="Consolas"/>
                <a:cs typeface="Consolas"/>
              </a:rPr>
              <a:t>B</a:t>
            </a:r>
            <a:r>
              <a:rPr dirty="0" sz="1850" spc="355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para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sobreposição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linear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dos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canais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ASK</a:t>
            </a:r>
            <a:r>
              <a:rPr dirty="0" sz="2150" spc="2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</a:t>
            </a:r>
            <a:r>
              <a:rPr dirty="0" sz="2150" spc="2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OOK.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7899"/>
              </a:lnSpc>
              <a:spcBef>
                <a:spcPts val="5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Configuração</a:t>
            </a:r>
            <a:r>
              <a:rPr dirty="0" sz="2150" spc="4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i="1">
                <a:solidFill>
                  <a:srgbClr val="1F2328"/>
                </a:solidFill>
                <a:latin typeface="Segoe UI"/>
                <a:cs typeface="Segoe UI"/>
              </a:rPr>
              <a:t>Pipeline</a:t>
            </a:r>
            <a:r>
              <a:rPr dirty="0" sz="2150" spc="45" i="1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interno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ativada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para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garantir</a:t>
            </a:r>
            <a:r>
              <a:rPr dirty="0" sz="2150" spc="4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o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fecho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5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10" i="1">
                <a:solidFill>
                  <a:srgbClr val="1F2328"/>
                </a:solidFill>
                <a:latin typeface="Segoe UI"/>
                <a:cs typeface="Segoe UI"/>
              </a:rPr>
              <a:t>timing </a:t>
            </a:r>
            <a:r>
              <a:rPr dirty="0" sz="2150" i="1">
                <a:solidFill>
                  <a:srgbClr val="1F2328"/>
                </a:solidFill>
                <a:latin typeface="Segoe UI"/>
                <a:cs typeface="Segoe UI"/>
              </a:rPr>
              <a:t>constraints</a:t>
            </a:r>
            <a:r>
              <a:rPr dirty="0" sz="2150" spc="-10" i="1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a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125</a:t>
            </a:r>
            <a:r>
              <a:rPr dirty="0" sz="2150" spc="-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MHz.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114549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499" y="2924174"/>
            <a:ext cx="9524998" cy="3181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Emulador</a:t>
            </a:r>
            <a:r>
              <a:rPr dirty="0" spc="20"/>
              <a:t> </a:t>
            </a:r>
            <a:r>
              <a:rPr dirty="0"/>
              <a:t>de</a:t>
            </a:r>
            <a:r>
              <a:rPr dirty="0" spc="25"/>
              <a:t> </a:t>
            </a:r>
            <a:r>
              <a:rPr dirty="0" spc="-20"/>
              <a:t>Canal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133599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462" y="1987550"/>
            <a:ext cx="7925434" cy="35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Restrição</a:t>
            </a:r>
            <a:r>
              <a:rPr dirty="0" sz="2150" spc="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de</a:t>
            </a:r>
            <a:r>
              <a:rPr dirty="0" sz="2150" spc="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banda</a:t>
            </a:r>
            <a:r>
              <a:rPr dirty="0" sz="2150" spc="6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e</a:t>
            </a:r>
            <a:r>
              <a:rPr dirty="0" sz="2150" spc="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distorção</a:t>
            </a:r>
            <a:r>
              <a:rPr dirty="0" sz="2150" spc="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programada</a:t>
            </a:r>
            <a:r>
              <a:rPr dirty="0" sz="2150" spc="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com</a:t>
            </a:r>
            <a:r>
              <a:rPr dirty="0" sz="2150" spc="6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1F2328"/>
                </a:solidFill>
                <a:latin typeface="Segoe UI"/>
                <a:cs typeface="Segoe UI"/>
              </a:rPr>
              <a:t>compilador</a:t>
            </a:r>
            <a:r>
              <a:rPr dirty="0" sz="2150" spc="65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1F2328"/>
                </a:solidFill>
                <a:latin typeface="Segoe UI"/>
                <a:cs typeface="Segoe UI"/>
              </a:rPr>
              <a:t>FIR.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474" y="2533649"/>
            <a:ext cx="10696574" cy="2819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409382"/>
            <a:ext cx="201422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Visualização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285999"/>
            <a:ext cx="95250" cy="952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695948" y="2162174"/>
            <a:ext cx="704850" cy="371475"/>
          </a:xfrm>
          <a:custGeom>
            <a:avLst/>
            <a:gdLst/>
            <a:ahLst/>
            <a:cxnLst/>
            <a:rect l="l" t="t" r="r" b="b"/>
            <a:pathLst>
              <a:path w="704850" h="371475">
                <a:moveTo>
                  <a:pt x="651453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651453" y="0"/>
                </a:lnTo>
                <a:lnTo>
                  <a:pt x="690764" y="19392"/>
                </a:lnTo>
                <a:lnTo>
                  <a:pt x="704849" y="53397"/>
                </a:lnTo>
                <a:lnTo>
                  <a:pt x="704849" y="318077"/>
                </a:lnTo>
                <a:lnTo>
                  <a:pt x="685458" y="357389"/>
                </a:lnTo>
                <a:lnTo>
                  <a:pt x="655169" y="371108"/>
                </a:lnTo>
                <a:lnTo>
                  <a:pt x="651453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2771774"/>
            <a:ext cx="95250" cy="952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439024" y="2647949"/>
            <a:ext cx="1485900" cy="371475"/>
          </a:xfrm>
          <a:custGeom>
            <a:avLst/>
            <a:gdLst/>
            <a:ahLst/>
            <a:cxnLst/>
            <a:rect l="l" t="t" r="r" b="b"/>
            <a:pathLst>
              <a:path w="1485900" h="371475">
                <a:moveTo>
                  <a:pt x="1432503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432503" y="0"/>
                </a:lnTo>
                <a:lnTo>
                  <a:pt x="1471814" y="19392"/>
                </a:lnTo>
                <a:lnTo>
                  <a:pt x="1485899" y="53397"/>
                </a:lnTo>
                <a:lnTo>
                  <a:pt x="1485899" y="318077"/>
                </a:lnTo>
                <a:lnTo>
                  <a:pt x="1466507" y="357389"/>
                </a:lnTo>
                <a:lnTo>
                  <a:pt x="1436219" y="371108"/>
                </a:lnTo>
                <a:lnTo>
                  <a:pt x="1432503" y="37147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dirty="0"/>
              <a:t>Bloco</a:t>
            </a:r>
            <a:r>
              <a:rPr dirty="0" spc="30"/>
              <a:t> </a:t>
            </a:r>
            <a:r>
              <a:rPr dirty="0"/>
              <a:t>combinacional</a:t>
            </a:r>
            <a:r>
              <a:rPr dirty="0" spc="40"/>
              <a:t> </a:t>
            </a:r>
            <a:r>
              <a:rPr dirty="0"/>
              <a:t>com</a:t>
            </a:r>
            <a:r>
              <a:rPr dirty="0" spc="40"/>
              <a:t> </a:t>
            </a:r>
            <a:r>
              <a:rPr dirty="0"/>
              <a:t>instrução</a:t>
            </a:r>
            <a:r>
              <a:rPr dirty="0" spc="114"/>
              <a:t>  </a:t>
            </a:r>
            <a:r>
              <a:rPr dirty="0" sz="1850">
                <a:latin typeface="Consolas"/>
                <a:cs typeface="Consolas"/>
              </a:rPr>
              <a:t>case</a:t>
            </a:r>
            <a:r>
              <a:rPr dirty="0" sz="1850" spc="395">
                <a:latin typeface="Consolas"/>
                <a:cs typeface="Consolas"/>
              </a:rPr>
              <a:t> </a:t>
            </a:r>
            <a:r>
              <a:rPr dirty="0"/>
              <a:t>para</a:t>
            </a:r>
            <a:r>
              <a:rPr dirty="0" spc="45"/>
              <a:t> </a:t>
            </a:r>
            <a:r>
              <a:rPr dirty="0"/>
              <a:t>seleção</a:t>
            </a:r>
            <a:r>
              <a:rPr dirty="0" spc="40"/>
              <a:t> </a:t>
            </a:r>
            <a:r>
              <a:rPr dirty="0" spc="-10"/>
              <a:t>dinâmica. </a:t>
            </a:r>
            <a:r>
              <a:rPr dirty="0"/>
              <a:t>Encaminha</a:t>
            </a:r>
            <a:r>
              <a:rPr dirty="0" spc="40"/>
              <a:t> </a:t>
            </a:r>
            <a:r>
              <a:rPr dirty="0"/>
              <a:t>o</a:t>
            </a:r>
            <a:r>
              <a:rPr dirty="0" spc="40"/>
              <a:t> </a:t>
            </a:r>
            <a:r>
              <a:rPr dirty="0"/>
              <a:t>sinal</a:t>
            </a:r>
            <a:r>
              <a:rPr dirty="0" spc="40"/>
              <a:t> </a:t>
            </a:r>
            <a:r>
              <a:rPr dirty="0"/>
              <a:t>selecionado</a:t>
            </a:r>
            <a:r>
              <a:rPr dirty="0" spc="40"/>
              <a:t> </a:t>
            </a:r>
            <a:r>
              <a:rPr dirty="0"/>
              <a:t>para</a:t>
            </a:r>
            <a:r>
              <a:rPr dirty="0" spc="40"/>
              <a:t> </a:t>
            </a:r>
            <a:r>
              <a:rPr dirty="0"/>
              <a:t>o</a:t>
            </a:r>
            <a:r>
              <a:rPr dirty="0" spc="35"/>
              <a:t> </a:t>
            </a:r>
            <a:r>
              <a:rPr dirty="0"/>
              <a:t>barramento</a:t>
            </a:r>
            <a:r>
              <a:rPr dirty="0" spc="114"/>
              <a:t>  </a:t>
            </a:r>
            <a:r>
              <a:rPr dirty="0" sz="1850">
                <a:latin typeface="Consolas"/>
                <a:cs typeface="Consolas"/>
              </a:rPr>
              <a:t>dac_data_o</a:t>
            </a:r>
            <a:r>
              <a:rPr dirty="0" sz="1850" spc="-240">
                <a:latin typeface="Consolas"/>
                <a:cs typeface="Consolas"/>
              </a:rPr>
              <a:t> </a:t>
            </a:r>
            <a:r>
              <a:rPr dirty="0" spc="-50"/>
              <a:t>.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pc="-10"/>
              <a:t>Todos</a:t>
            </a:r>
            <a:r>
              <a:rPr dirty="0" spc="15"/>
              <a:t> </a:t>
            </a:r>
            <a:r>
              <a:rPr dirty="0"/>
              <a:t>os</a:t>
            </a:r>
            <a:r>
              <a:rPr dirty="0" spc="30"/>
              <a:t> </a:t>
            </a:r>
            <a:r>
              <a:rPr dirty="0"/>
              <a:t>sinais</a:t>
            </a:r>
            <a:r>
              <a:rPr dirty="0" spc="25"/>
              <a:t> </a:t>
            </a:r>
            <a:r>
              <a:rPr dirty="0"/>
              <a:t>anteriores</a:t>
            </a:r>
            <a:r>
              <a:rPr dirty="0" spc="25"/>
              <a:t> </a:t>
            </a:r>
            <a:r>
              <a:rPr dirty="0"/>
              <a:t>disponíveis</a:t>
            </a:r>
            <a:r>
              <a:rPr dirty="0" spc="25"/>
              <a:t> </a:t>
            </a:r>
            <a:r>
              <a:rPr dirty="0"/>
              <a:t>no</a:t>
            </a:r>
            <a:r>
              <a:rPr dirty="0" spc="30"/>
              <a:t> </a:t>
            </a:r>
            <a:r>
              <a:rPr dirty="0" spc="-20"/>
              <a:t>ILA.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3267074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474" y="3657599"/>
            <a:ext cx="10696574" cy="15430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73050" y="206375"/>
            <a:ext cx="45446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8B8B8B"/>
                </a:solidFill>
                <a:latin typeface="Segoe UI"/>
                <a:cs typeface="Segoe UI"/>
              </a:rPr>
              <a:t>Projeto 1: Modulação ASK/OOK Multiplexada na </a:t>
            </a:r>
            <a:r>
              <a:rPr dirty="0" sz="1350" spc="-10">
                <a:solidFill>
                  <a:srgbClr val="8B8B8B"/>
                </a:solidFill>
                <a:latin typeface="Segoe UI"/>
                <a:cs typeface="Segoe UI"/>
              </a:rPr>
              <a:t>Frequência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/>
              <a:t>Eletrónica</a:t>
            </a:r>
            <a:r>
              <a:rPr dirty="0" spc="-50"/>
              <a:t> </a:t>
            </a:r>
            <a:r>
              <a:rPr dirty="0"/>
              <a:t>Configurável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45"/>
              <a:t> </a:t>
            </a:r>
            <a:r>
              <a:rPr dirty="0"/>
              <a:t>Mestrado</a:t>
            </a:r>
            <a:r>
              <a:rPr dirty="0" spc="-50"/>
              <a:t> </a:t>
            </a:r>
            <a:r>
              <a:rPr dirty="0"/>
              <a:t>em</a:t>
            </a:r>
            <a:r>
              <a:rPr dirty="0" spc="-50"/>
              <a:t> </a:t>
            </a:r>
            <a:r>
              <a:rPr dirty="0"/>
              <a:t>Engenharia</a:t>
            </a:r>
            <a:r>
              <a:rPr dirty="0" spc="-45"/>
              <a:t> </a:t>
            </a:r>
            <a:r>
              <a:rPr dirty="0"/>
              <a:t>Eletrotécnica</a:t>
            </a:r>
            <a:r>
              <a:rPr dirty="0" spc="-50"/>
              <a:t> </a:t>
            </a:r>
            <a:r>
              <a:rPr dirty="0" spc="-10"/>
              <a:t>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1 | Proposta D</dc:title>
  <dcterms:created xsi:type="dcterms:W3CDTF">2026-07-08T15:19:48Z</dcterms:created>
  <dcterms:modified xsi:type="dcterms:W3CDTF">2026-07-08T15:19:48Z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2026-07-08T00:00:00Z</vt:filetime>
  </property>
  <property fmtid="{D5CDD505-2E9C-101B-9397-08002B2CF9AE}" pid="4" name="Creator">
    <vt:lpwstr>Created by Marp</vt:lpwstr>
  </property>
  <property fmtid="{D5CDD505-2E9C-101B-9397-08002B2CF9AE}" pid="5" name="LastSaved">
    <vt:filetime>2026-07-08T00:00:00Z</vt:filetime>
  </property>
  <property fmtid="{D5CDD505-2E9C-101B-9397-08002B2CF9AE}" pid="6" name="Producer">
    <vt:lpwstr>Created by Marp</vt:lpwstr>
  </property>
</Properties>
</file>